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F2B9-6E63-44F5-96F1-1CE3A52FA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C9748-09AD-4FFE-A150-673D2FECC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75D7F-A932-47A8-8CAA-62613C2E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09805-D5FB-4146-B0DE-D05B982E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9FA49-B13F-4756-AA00-319FC3A9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4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0DB3-C0F3-4089-AE7B-96C001C5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8D485-56E0-418C-A8B0-80571B2C8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43148-E7B4-4767-BFCD-B7A1F543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88D37-A572-43BC-8483-C91332E2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C1D6A-F1FB-4C6C-8254-6CBB0729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4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3171-F729-4AA6-9609-AAC005639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7A92-9287-4C81-AD38-361CE4F7B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2C1D8-4AE1-40F3-84F1-E19807CE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DD218-6743-4789-8A84-1119EADF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86D65-830C-42F5-A9DC-7D82C494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5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CDB3-FDC7-4401-A814-47355EDB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27BCE-CDE9-4B85-9B0E-EC90F2777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4B5B9-5F45-45B9-9D40-154C427C3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FB093-9110-4EBB-9D97-15F4E614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BFBB6-91C5-4667-8C43-AB062D84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6BBFA-7330-428A-80BC-F954E427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4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9986-B5A0-4C07-8078-A3AE8382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98CAB-948B-4EB9-96D5-D84AE18A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D7B82-09EF-4154-9732-1BBF1845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7FE48-7E1A-4996-B50E-65337F05A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79B3B-1AC2-4758-89B5-23A228FD9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51702-4402-4828-A19F-5A7F1EF2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D854C-DB45-4D71-8B8A-0F760BE3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3BDBEB-549F-4060-AEE3-CC4DBAF4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4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535B-2297-4AA9-8FCE-E231B5E5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ABF5C-FB98-4626-9CB8-8A0CCA28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D3D7A-0977-4C7D-A3E2-F114CC7D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D2FF1-20A2-4572-B2B2-721E573C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7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4D29AC-5130-45BF-ACFB-C0C5F445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41B55-E066-47A7-82A1-BB4AF8D3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77B8C-DCB9-4705-AB4C-E80E60FA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2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E6D2-7F14-4D4F-B2A7-00D7F671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45A6-2DB6-472A-8AC9-9A3306B88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D4400-47F7-4C64-A885-79FE08CF9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AA904-B27A-4E8B-955D-07E2C21E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0F66-68EB-4B3D-B75B-A927E42F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45EC8-1AC7-4D9B-AB60-859FC9F7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22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BEAB-7E4E-4E94-8C53-C63108A6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FEFBB-8768-4F11-8A37-3881AF5BD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2CA78-5244-47C8-AF32-A2AC8EBCE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6F3C6-3812-47DD-B078-F1FA2FB0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4AFE8-F1C8-4294-A0F5-299CCD9D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9CA78-B085-47D1-976D-D29CDEF7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79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0F5F-CCCA-45D7-A3E2-40A57F71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07C20-4965-49DF-A824-C4A37406C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6523-F2CC-446A-A5A8-97DCB307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BB2F7-0010-4224-94A1-8831659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D332D-46D3-45E4-9650-3681EAD5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7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38617-28BD-43B3-8CC4-6909C8564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64E13-ACCF-4B99-AC7D-CDA1B695C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FF63C-DE75-4AAD-BD76-E540D9C6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CE10C-5D5C-4BBE-856C-BF9D977C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236A0-7D0F-4F36-AD6F-C6A05F32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1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7601D-7584-4E2B-847F-F782E63A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AE87F-1C34-43B2-AE1B-300D6CF4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0DB4B-835A-440D-BED8-E95C0C1C1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E880A-FBD9-4DF5-A6BA-6AC489F6816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0F2EC-C530-4DAE-8AB5-B972724EE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EC9C3-C32C-4DCC-84F4-7F71C1C84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2DDE5-2837-4920-A980-641F02CEA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39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laguttiMarcelo/HKL-PDF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831F-1A97-45D2-8925-8802AC665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HKL-PDF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8B3D-C63F-459C-A118-7C30A877B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ui-sans-serif"/>
              </a:rPr>
              <a:t>Direction-resolved pair distribution function modelling of microstructure and finite crystallite shape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91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ECC8E-317B-4D20-8FCA-2E591064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new about the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0D1B-40F1-4AB9-ADF0-8D5DB8E9C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PDF software to model directional microstructural features such dislocation microstrain and anisotropic crystallite shapes</a:t>
            </a:r>
          </a:p>
          <a:p>
            <a:r>
              <a:rPr lang="en-US" dirty="0"/>
              <a:t>The code relates each pair distance to the HKL (Miller indices), allowing direct comparison with properties obtained in reciprocal space analysis</a:t>
            </a:r>
          </a:p>
          <a:p>
            <a:r>
              <a:rPr lang="en-US" dirty="0"/>
              <a:t>Crystallite shape is modelled via: </a:t>
            </a:r>
          </a:p>
          <a:p>
            <a:pPr lvl="1"/>
            <a:r>
              <a:rPr lang="en-US" dirty="0"/>
              <a:t>Common Volume Function (CVF) to estimate the shape factor analytically for predefined shapes (like disks, rods, </a:t>
            </a:r>
            <a:r>
              <a:rPr lang="en-US" dirty="0" err="1"/>
              <a:t>ellispoids</a:t>
            </a:r>
            <a:r>
              <a:rPr lang="en-US" dirty="0"/>
              <a:t>, cubes,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lvl="1"/>
            <a:r>
              <a:rPr lang="en-US" dirty="0"/>
              <a:t>Calculation of the pair distance histogram for random shapes by calculating all the pair distances in the shape, normalized in fractional coordinates (allowing the refinement of lattice parameters, DW factors, </a:t>
            </a:r>
            <a:r>
              <a:rPr lang="en-US" dirty="0" err="1"/>
              <a:t>etc</a:t>
            </a:r>
            <a:r>
              <a:rPr lang="en-US" dirty="0"/>
              <a:t>…). A GUI interface is available for grid search and visualization</a:t>
            </a:r>
          </a:p>
          <a:p>
            <a:r>
              <a:rPr lang="en-US" dirty="0"/>
              <a:t>Whole set of visualization tools for Warren Plots, crystallite size distribution, and local dynamics, and refinement monitoring</a:t>
            </a:r>
          </a:p>
          <a:p>
            <a:r>
              <a:rPr lang="en-US" dirty="0"/>
              <a:t>It is highly parallelized by CPUs suitable for incorporation into supercomputers. (GPU extension is foreseen). </a:t>
            </a:r>
          </a:p>
          <a:p>
            <a:r>
              <a:rPr lang="en-US" dirty="0"/>
              <a:t>It counts with input file structure that does not require GUI interface to run. So one can use the current engine and develop its own GUI interface.</a:t>
            </a:r>
          </a:p>
        </p:txBody>
      </p:sp>
    </p:spTree>
    <p:extLst>
      <p:ext uri="{BB962C8B-B14F-4D97-AF65-F5344CB8AC3E}">
        <p14:creationId xmlns:p14="http://schemas.microsoft.com/office/powerpoint/2010/main" val="146186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7EB4-A07A-4D77-B98B-6BBA3BE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1501C-A0B0-4AB4-8B99-21C0FCB01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Database creation: given the .</a:t>
            </a:r>
            <a:r>
              <a:rPr lang="en-US" dirty="0" err="1"/>
              <a:t>cif</a:t>
            </a:r>
            <a:r>
              <a:rPr lang="en-US" dirty="0"/>
              <a:t> file, the code calculates all the pair distances up to the maximum pair distance requested by the user. Each pair is associated with an [</a:t>
            </a:r>
            <a:r>
              <a:rPr lang="en-US" dirty="0" err="1"/>
              <a:t>hkl</a:t>
            </a:r>
            <a:r>
              <a:rPr lang="en-US" dirty="0"/>
              <a:t>] direction.  Pair-type information, fractional coordinates, coordination numbers, and [</a:t>
            </a:r>
            <a:r>
              <a:rPr lang="en-US" dirty="0" err="1"/>
              <a:t>hkl</a:t>
            </a:r>
            <a:r>
              <a:rPr lang="en-US" dirty="0"/>
              <a:t>] metadata are stored in cache, so the calculations just need to be run once.</a:t>
            </a:r>
          </a:p>
          <a:p>
            <a:r>
              <a:rPr lang="en-US" dirty="0"/>
              <a:t>To refine lattice parameters, for example, a simple matrix multiplication using the metric tensor. Broadening parameters such as Debye-Waller parameters (constant in r) and microstrain parameters (that are HKL and r dependent) are assigned for each pair-type and direction and refined</a:t>
            </a:r>
          </a:p>
          <a:p>
            <a:r>
              <a:rPr lang="en-US" dirty="0"/>
              <a:t>Crystallite size is modelled by the calculation of the shape factor by CVF (using P. </a:t>
            </a:r>
            <a:r>
              <a:rPr lang="en-US" dirty="0" err="1"/>
              <a:t>Scardi</a:t>
            </a:r>
            <a:r>
              <a:rPr lang="en-US" dirty="0"/>
              <a:t> equations) and histogram calculation for finite shapes.</a:t>
            </a:r>
          </a:p>
        </p:txBody>
      </p:sp>
    </p:spTree>
    <p:extLst>
      <p:ext uri="{BB962C8B-B14F-4D97-AF65-F5344CB8AC3E}">
        <p14:creationId xmlns:p14="http://schemas.microsoft.com/office/powerpoint/2010/main" val="329651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4142-2974-4F76-8393-94503195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tools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AA19B2-05E0-45E5-980E-92F8691EB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10" y="2111312"/>
            <a:ext cx="6443320" cy="384143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8BA132-FC32-43E9-8684-7D12AB746BCA}"/>
              </a:ext>
            </a:extLst>
          </p:cNvPr>
          <p:cNvSpPr txBox="1"/>
          <p:nvPr/>
        </p:nvSpPr>
        <p:spPr>
          <a:xfrm>
            <a:off x="1307592" y="1618488"/>
            <a:ext cx="495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 user interface for refinement monitoring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692BE8-A6D5-4486-A5E1-B51AF0EB1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428" y="1027906"/>
            <a:ext cx="3380956" cy="33126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9E11C0-76C2-4E05-9967-D3C8B041AAAA}"/>
              </a:ext>
            </a:extLst>
          </p:cNvPr>
          <p:cNvSpPr txBox="1"/>
          <p:nvPr/>
        </p:nvSpPr>
        <p:spPr>
          <a:xfrm>
            <a:off x="7498080" y="155448"/>
            <a:ext cx="4344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file structure automatically updated</a:t>
            </a:r>
            <a:br>
              <a:rPr lang="en-US" dirty="0"/>
            </a:br>
            <a:r>
              <a:rPr lang="en-US" dirty="0"/>
              <a:t>from the GUI builder. So any modification in </a:t>
            </a:r>
            <a:br>
              <a:rPr lang="en-US" dirty="0"/>
            </a:br>
            <a:r>
              <a:rPr lang="en-US" dirty="0"/>
              <a:t>the GUI is directly translated to code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4A7726-11CB-420C-A647-9BC658F27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517" y="4655069"/>
            <a:ext cx="2288778" cy="22037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44D32C-EAAC-4279-B246-5BFF5ED9B7C9}"/>
              </a:ext>
            </a:extLst>
          </p:cNvPr>
          <p:cNvSpPr txBox="1"/>
          <p:nvPr/>
        </p:nvSpPr>
        <p:spPr>
          <a:xfrm>
            <a:off x="7059168" y="4340601"/>
            <a:ext cx="4962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time parameter monitoring during refinement</a:t>
            </a:r>
          </a:p>
        </p:txBody>
      </p:sp>
    </p:spTree>
    <p:extLst>
      <p:ext uri="{BB962C8B-B14F-4D97-AF65-F5344CB8AC3E}">
        <p14:creationId xmlns:p14="http://schemas.microsoft.com/office/powerpoint/2010/main" val="327370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AB4D-516A-420F-869D-2CE2FA4F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tools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E5415-7804-487B-9F56-5420CEFA8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/>
          <a:stretch/>
        </p:blipFill>
        <p:spPr>
          <a:xfrm>
            <a:off x="1821364" y="2063369"/>
            <a:ext cx="7688395" cy="47579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7E9457-C88C-4B1B-A2B4-F699D23491CD}"/>
              </a:ext>
            </a:extLst>
          </p:cNvPr>
          <p:cNvSpPr txBox="1"/>
          <p:nvPr/>
        </p:nvSpPr>
        <p:spPr>
          <a:xfrm>
            <a:off x="439003" y="1417038"/>
            <a:ext cx="10811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Fitting visualization tool including tick markers for each pair with information on </a:t>
            </a:r>
            <a:r>
              <a:rPr lang="en-US" dirty="0" err="1"/>
              <a:t>i</a:t>
            </a:r>
            <a:r>
              <a:rPr lang="en-US" dirty="0"/>
              <a:t>) pair-type, ii) distance, iii) shell, </a:t>
            </a:r>
            <a:br>
              <a:rPr lang="en-US" dirty="0"/>
            </a:br>
            <a:r>
              <a:rPr lang="en-US" dirty="0"/>
              <a:t>iv) direction, v) multiplicity. Full customizable colors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4188131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4768-AC97-4714-A543-DA5A00A2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tools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84FA5F-4864-436E-A532-15F99D8C8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98"/>
          <a:stretch/>
        </p:blipFill>
        <p:spPr>
          <a:xfrm>
            <a:off x="73152" y="2126900"/>
            <a:ext cx="2909956" cy="26041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EA57D-4A0C-4B71-8C58-FDD2795EB640}"/>
              </a:ext>
            </a:extLst>
          </p:cNvPr>
          <p:cNvSpPr txBox="1"/>
          <p:nvPr/>
        </p:nvSpPr>
        <p:spPr>
          <a:xfrm>
            <a:off x="1289305" y="1380744"/>
            <a:ext cx="268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microstructural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FBF95C-523D-4124-ADE1-4469ADF58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48"/>
          <a:stretch/>
        </p:blipFill>
        <p:spPr>
          <a:xfrm>
            <a:off x="2983109" y="2126900"/>
            <a:ext cx="2841620" cy="2604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F26E09-FFF9-4342-94DF-A238E71E4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089" y="1958340"/>
            <a:ext cx="3091682" cy="277275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BF9CDF-1456-4825-95C8-05570B994C53}"/>
              </a:ext>
            </a:extLst>
          </p:cNvPr>
          <p:cNvCxnSpPr/>
          <p:nvPr/>
        </p:nvCxnSpPr>
        <p:spPr>
          <a:xfrm>
            <a:off x="6298939" y="1307592"/>
            <a:ext cx="0" cy="4425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D2D0478-7CE5-4EE0-994D-F89305788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5299" y="2245726"/>
            <a:ext cx="2364758" cy="21178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E1FAAA-CD2B-4D5E-82D8-C20979A23205}"/>
              </a:ext>
            </a:extLst>
          </p:cNvPr>
          <p:cNvSpPr txBox="1"/>
          <p:nvPr/>
        </p:nvSpPr>
        <p:spPr>
          <a:xfrm>
            <a:off x="7129015" y="1492140"/>
            <a:ext cx="3293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structure visualization tools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4CD66F-97E5-4792-9DB3-3B617337932A}"/>
              </a:ext>
            </a:extLst>
          </p:cNvPr>
          <p:cNvSpPr txBox="1"/>
          <p:nvPr/>
        </p:nvSpPr>
        <p:spPr>
          <a:xfrm>
            <a:off x="10102679" y="1876394"/>
            <a:ext cx="1629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Assymetric</a:t>
            </a:r>
            <a:r>
              <a:rPr lang="en-US" dirty="0"/>
              <a:t> unit</a:t>
            </a:r>
          </a:p>
        </p:txBody>
      </p:sp>
    </p:spTree>
    <p:extLst>
      <p:ext uri="{BB962C8B-B14F-4D97-AF65-F5344CB8AC3E}">
        <p14:creationId xmlns:p14="http://schemas.microsoft.com/office/powerpoint/2010/main" val="388734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42A9-B9A6-4E89-81AA-78823534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tool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F06A66-04DA-42F9-9DE1-D9C06B984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995" y="2141537"/>
            <a:ext cx="7730933" cy="4595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75CC0C-93B7-4835-A322-16EFB421E81B}"/>
              </a:ext>
            </a:extLst>
          </p:cNvPr>
          <p:cNvSpPr txBox="1"/>
          <p:nvPr/>
        </p:nvSpPr>
        <p:spPr>
          <a:xfrm>
            <a:off x="3749040" y="1772205"/>
            <a:ext cx="299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Finite crystallite shape builder</a:t>
            </a:r>
          </a:p>
        </p:txBody>
      </p:sp>
    </p:spTree>
    <p:extLst>
      <p:ext uri="{BB962C8B-B14F-4D97-AF65-F5344CB8AC3E}">
        <p14:creationId xmlns:p14="http://schemas.microsoft.com/office/powerpoint/2010/main" val="162252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225B-2296-449D-AC2E-85908254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SAXS contribution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6660CB-B26F-4F55-A253-F70F7AD63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172" y="2056871"/>
            <a:ext cx="8862123" cy="2954041"/>
          </a:xfrm>
        </p:spPr>
      </p:pic>
    </p:spTree>
    <p:extLst>
      <p:ext uri="{BB962C8B-B14F-4D97-AF65-F5344CB8AC3E}">
        <p14:creationId xmlns:p14="http://schemas.microsoft.com/office/powerpoint/2010/main" val="535235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989F-86B9-495C-8C96-AAD69C1D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 and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F1540-2EA1-4512-A894-FA7147651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GitHub instructions: </a:t>
            </a:r>
            <a:r>
              <a:rPr lang="en-US" dirty="0">
                <a:hlinkClick r:id="rId2"/>
              </a:rPr>
              <a:t>https://github.com/MalaguttiMarcelo/HKL-PDF.git</a:t>
            </a:r>
            <a:endParaRPr lang="en-US" dirty="0"/>
          </a:p>
          <a:p>
            <a:r>
              <a:rPr lang="en-US" dirty="0"/>
              <a:t>Run the GUI HKL-PDF.exe</a:t>
            </a:r>
          </a:p>
          <a:p>
            <a:r>
              <a:rPr lang="en-US" dirty="0"/>
              <a:t>Documentation is available in the docs folder containing all the equations.</a:t>
            </a:r>
          </a:p>
          <a:p>
            <a:r>
              <a:rPr lang="en-US" dirty="0"/>
              <a:t>Follow the three examples: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Ball-milled </a:t>
            </a:r>
            <a:r>
              <a:rPr lang="en-US" dirty="0" err="1"/>
              <a:t>FeCr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Ball-milled CaCO3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Simulated Pd disks</a:t>
            </a:r>
          </a:p>
        </p:txBody>
      </p:sp>
    </p:spTree>
    <p:extLst>
      <p:ext uri="{BB962C8B-B14F-4D97-AF65-F5344CB8AC3E}">
        <p14:creationId xmlns:p14="http://schemas.microsoft.com/office/powerpoint/2010/main" val="216659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5B4F-04DA-47E1-848D-8133E0C1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developments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219C-40DE-4D4B-B917-3CC2D855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Multiphase analysis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Atomic-position refinement (XYZ)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Automated calculation of shape functions—or common-volume functions—for different shapes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A user-friendly module for generating stacking faults (needed for the complex organic materials developed by Bettina).</a:t>
            </a:r>
          </a:p>
        </p:txBody>
      </p:sp>
    </p:spTree>
    <p:extLst>
      <p:ext uri="{BB962C8B-B14F-4D97-AF65-F5344CB8AC3E}">
        <p14:creationId xmlns:p14="http://schemas.microsoft.com/office/powerpoint/2010/main" val="1857865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ui-sans-serif</vt:lpstr>
      <vt:lpstr>Office Theme</vt:lpstr>
      <vt:lpstr>HKL-PDF</vt:lpstr>
      <vt:lpstr>What is new about the Software</vt:lpstr>
      <vt:lpstr>How it works?</vt:lpstr>
      <vt:lpstr>Visualization tools</vt:lpstr>
      <vt:lpstr>Visualization tools</vt:lpstr>
      <vt:lpstr>Visualization tools</vt:lpstr>
      <vt:lpstr>Visualization tool</vt:lpstr>
      <vt:lpstr>SAXS contribution</vt:lpstr>
      <vt:lpstr>How to install and run</vt:lpstr>
      <vt:lpstr>Future developments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malagutti@fkf.mpg.de</dc:creator>
  <cp:lastModifiedBy>malagutti@fkf.mpg.de</cp:lastModifiedBy>
  <cp:revision>10</cp:revision>
  <dcterms:created xsi:type="dcterms:W3CDTF">2026-09-09T07:46:33Z</dcterms:created>
  <dcterms:modified xsi:type="dcterms:W3CDTF">2026-09-09T10:07:11Z</dcterms:modified>
</cp:coreProperties>
</file>